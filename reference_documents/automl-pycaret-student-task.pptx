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3D73-88E7-46FE-A0F6-F9B7E847621F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3C00B-7462-44D0-A507-80E992106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80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3C00B-7462-44D0-A507-80E99210635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221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5108-DF07-BEC9-D9C6-386016E32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06C22-39E7-FD0D-5292-653B5416E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10336-2704-9AC9-AC54-123C0FF5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F64DC-5C95-E23A-A22A-0911088A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13A33-9803-1C8F-B36B-5C6E7013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04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0C375-A25B-5DAE-FD33-D4B6F769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5454A-1B4C-2EBB-35AA-8D8084B8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B81D4-0665-3B69-96FE-3B4B7D180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99DC6-0203-3C48-6EB2-A0B9281C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2478C-AF7F-E9B9-AA7E-B4A3A994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59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2B2-EA1A-D626-B918-B6127C314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6E3D4-653C-68C2-8FB7-29DE270D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34DC4-3A8F-18DB-6640-879D19DB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0D190-841D-0C3C-F8E8-EA3F3035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02F20-C858-9596-12F0-B28EEAA3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47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A478-2367-2B5D-528B-A81886BE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9A96-AD12-A77C-8E76-91EBFE28C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7BA5E-A018-5C3E-1E6B-217A0CFDA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A93E6-74F7-53B7-A3BE-23972A51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304D0-1607-04B8-DAB0-49AC3FF96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94C13-D60E-C4EC-BC9C-EF43D632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27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9DCD-A588-9B1E-FB68-006784E3A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22900-E26F-0173-DE32-F560EA311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87FD5-D984-FA85-F166-8A08B0EF0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21D581-2C8E-C24D-85E0-1CAB027A9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6B99C-5A26-7C56-04DE-EEEF297DC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AA8B3-BEA6-D598-1E8D-E40B908C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A2430-7757-A66E-A358-B63228FD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34BFF-DFE6-52E8-85CE-488FF0FA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34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13B5-FE29-F33B-2248-34833938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F8DDE-6D82-F6D3-EEE7-3CDD6F63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8FC07-D6E0-AD6F-5B95-6113A23D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44B6A-DB87-1EC9-909D-F77A6853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862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1FB0F-825B-02BC-F0AC-8DBE4CD6C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BCF76-2AE2-BA1A-5A02-7778034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B44B7-75DD-FD4B-8D00-678BE247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44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C036-9C07-D73A-62B0-3B4C1272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20524-AE97-D5AA-1D1A-C0D74BA02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6F431-EF01-8878-6B72-780C3ABAA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CE25F-0BD2-FFA2-2697-4FD73457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9D794-5385-60B6-417F-D0C0B40E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61FBE-B3A6-DDA4-E466-5BB2438B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3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9FB7-4681-8F8C-6B0F-F7650876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74CD01-8041-C5FA-9D77-091959D6D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FCAE1-F295-A9F8-9566-128B9B31E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0232E-B667-AB44-59C8-1EF3AC61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8FE2B-42C8-3A9B-5F9B-62548C71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06F2E-8FDB-45D8-82F9-E5CDDBDF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84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10C35-7309-3E5C-4631-A9A3940F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B40CA-6BCD-271C-BC81-90AED1286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B2CD6-2B43-BDAB-5226-9758CA482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D9778-A7C0-B271-0898-D563720A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43867-E26E-7DAC-C94D-586449C42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26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573311-02B3-9287-9D08-31B08D958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B708D-EB2A-E48E-31E6-7157A5892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267A3-B0F7-6AC9-4B01-6B6AD5A61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C3A9D-F411-CCF1-2B94-8FF2C8F9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B180F-4868-A756-FC9F-77DE2C79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33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324BDB-F8E2-84A7-FE9D-D4E1AA5F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7B571-0E5B-B75D-7AED-157EF1225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4D40F-F132-8210-C953-67520D7A1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701A2-B0CB-421C-B27A-4318E913977B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0CD14-7CFF-C9BB-5F53-12382CA6A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D666D-4A3E-BE57-6950-CCA11A338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19963-0F56-4EC9-AC7A-778AB859C6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1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4E1A9-C113-1CF1-777A-5A488053F7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AutoML</a:t>
            </a:r>
            <a:r>
              <a:rPr lang="en-US" b="1" dirty="0"/>
              <a:t> Data Preparation with </a:t>
            </a:r>
            <a:r>
              <a:rPr lang="en-US" b="1" dirty="0" err="1"/>
              <a:t>PyCaret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D4DD5-1827-0CF3-15FD-AC42B9B365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Student Tasks</a:t>
            </a:r>
          </a:p>
        </p:txBody>
      </p:sp>
    </p:spTree>
    <p:extLst>
      <p:ext uri="{BB962C8B-B14F-4D97-AF65-F5344CB8AC3E}">
        <p14:creationId xmlns:p14="http://schemas.microsoft.com/office/powerpoint/2010/main" val="70483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86C3-C526-3FC4-5EDC-C4B08C0D1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85" y="167164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A8233-D0AD-FCD4-9AB1-63EF8AA04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885" y="933254"/>
            <a:ext cx="11765437" cy="575758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Dataset Scenario</a:t>
            </a:r>
            <a:endParaRPr lang="en-IN" b="1" dirty="0"/>
          </a:p>
          <a:p>
            <a:pPr marL="0" indent="0">
              <a:buNone/>
            </a:pPr>
            <a:r>
              <a:rPr lang="en-US" b="1" dirty="0"/>
              <a:t>Business problem: </a:t>
            </a:r>
            <a:r>
              <a:rPr lang="en-US" dirty="0"/>
              <a:t>An insurance company wants to predict whether an existing customer will renew the policy at the end of the current policy period. The target variable is </a:t>
            </a:r>
            <a:r>
              <a:rPr lang="en-US" b="1" dirty="0" err="1"/>
              <a:t>Policy_Renewed</a:t>
            </a:r>
            <a:r>
              <a:rPr lang="en-US" dirty="0"/>
              <a:t> with values Yes/No.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Important: </a:t>
            </a:r>
            <a:r>
              <a:rPr lang="en-US" dirty="0"/>
              <a:t>The dataset is intentionally dirty. Do not start </a:t>
            </a:r>
            <a:r>
              <a:rPr lang="en-US" dirty="0" err="1"/>
              <a:t>PyCaret</a:t>
            </a:r>
            <a:r>
              <a:rPr lang="en-US" dirty="0"/>
              <a:t> immediately. First inspect the data and decide which problems require human intervention.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817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632BC-1CE8-4D0C-F16C-A9673C0B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FA16-F431-9DDB-45FF-7229E474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85" y="167164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dirty="0"/>
              <a:t>Student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A0906-20C1-47B2-CA88-1D393F00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885" y="933254"/>
            <a:ext cx="11765437" cy="575758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Step 1 — Understand the data</a:t>
            </a:r>
            <a:endParaRPr lang="en-IN" dirty="0"/>
          </a:p>
          <a:p>
            <a:pPr lvl="0"/>
            <a:r>
              <a:rPr lang="en-US" dirty="0"/>
              <a:t>Load the CSV, inspect shape, column names, data types, first/last records, missing values, duplicate rows, target balance, numerical ranges and unique categorical values.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Step 2 — Identify human-intervention problems</a:t>
            </a:r>
            <a:endParaRPr lang="en-IN" dirty="0"/>
          </a:p>
          <a:p>
            <a:pPr lvl="0"/>
            <a:r>
              <a:rPr lang="en-US" dirty="0"/>
              <a:t>Find data problems that </a:t>
            </a:r>
            <a:r>
              <a:rPr lang="en-US" dirty="0" err="1"/>
              <a:t>AutoML</a:t>
            </a:r>
            <a:r>
              <a:rPr lang="en-US" dirty="0"/>
              <a:t> should not be trusted to interpret automatically. Document what you found, why it is a problem, and what decision you made.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Step 3 — Perform only the necessary human cleaning</a:t>
            </a:r>
            <a:endParaRPr lang="en-IN" dirty="0"/>
          </a:p>
          <a:p>
            <a:pPr lvl="0"/>
            <a:r>
              <a:rPr lang="en-US" dirty="0"/>
              <a:t>Correct semantic/data-governance issues. Do not manually perform every preprocessing operation; leave ordinary missing-value imputation, encoding, scaling, imbalance treatment and statistical outlier treatment for </a:t>
            </a:r>
            <a:r>
              <a:rPr lang="en-US" dirty="0" err="1"/>
              <a:t>PyCaret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Step 4 — Configure </a:t>
            </a:r>
            <a:r>
              <a:rPr lang="en-US" b="1" dirty="0" err="1"/>
              <a:t>PyCaret</a:t>
            </a:r>
            <a:r>
              <a:rPr lang="en-US" b="1" dirty="0"/>
              <a:t> </a:t>
            </a:r>
            <a:r>
              <a:rPr lang="en-US" b="1" dirty="0" err="1"/>
              <a:t>AutoML</a:t>
            </a:r>
            <a:endParaRPr lang="en-IN" dirty="0"/>
          </a:p>
          <a:p>
            <a:pPr lvl="0"/>
            <a:r>
              <a:rPr lang="en-US" dirty="0"/>
              <a:t>Create a </a:t>
            </a:r>
            <a:r>
              <a:rPr lang="en-US" dirty="0" err="1"/>
              <a:t>ClassificationExperiment</a:t>
            </a:r>
            <a:r>
              <a:rPr lang="en-US" dirty="0"/>
              <a:t> and use setup() so </a:t>
            </a:r>
            <a:r>
              <a:rPr lang="en-US" dirty="0" err="1"/>
              <a:t>PyCaret</a:t>
            </a:r>
            <a:r>
              <a:rPr lang="en-US" dirty="0"/>
              <a:t> performs the technical preprocessing and model-training workflow.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Step 5 — Inspect the pipeline</a:t>
            </a:r>
            <a:endParaRPr lang="en-IN" dirty="0"/>
          </a:p>
          <a:p>
            <a:pPr lvl="0"/>
            <a:r>
              <a:rPr lang="en-US" dirty="0"/>
              <a:t>Display the </a:t>
            </a:r>
            <a:r>
              <a:rPr lang="en-US" dirty="0" err="1"/>
              <a:t>PyCaret</a:t>
            </a:r>
            <a:r>
              <a:rPr lang="en-US" dirty="0"/>
              <a:t> pipeline and explain at least five preprocessing operations that are being automated.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Step 6 — Compare models</a:t>
            </a:r>
            <a:endParaRPr lang="en-IN" dirty="0"/>
          </a:p>
          <a:p>
            <a:pPr lvl="0"/>
            <a:r>
              <a:rPr lang="en-US" dirty="0"/>
              <a:t>Use </a:t>
            </a:r>
            <a:r>
              <a:rPr lang="en-US" dirty="0" err="1"/>
              <a:t>compare_models</a:t>
            </a:r>
            <a:r>
              <a:rPr lang="en-US" dirty="0"/>
              <a:t>(). Rank models using a metric appropriate for this imbalanced renewal problem. Do not rely only on accuracy.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Step 7 — Evaluate the best model</a:t>
            </a:r>
            <a:endParaRPr lang="en-IN" dirty="0"/>
          </a:p>
          <a:p>
            <a:pPr lvl="0"/>
            <a:r>
              <a:rPr lang="en-US" dirty="0"/>
              <a:t>Generate predictions and at least two evaluation outputs such as confusion matrix, ROC-AUC, precision-recall, feature importance or classification metrics.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2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DC5C-7B57-27B1-1123-C730402C4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AA58-CF56-F85E-E206-5A178590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85" y="167164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dirty="0"/>
              <a:t>Step 2 and Step 3 related(Human intervention)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17EEE4-A0BF-1848-7246-744CAE2DE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766321"/>
              </p:ext>
            </p:extLst>
          </p:nvPr>
        </p:nvGraphicFramePr>
        <p:xfrm>
          <a:off x="414779" y="820134"/>
          <a:ext cx="11777222" cy="5952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6701">
                  <a:extLst>
                    <a:ext uri="{9D8B030D-6E8A-4147-A177-3AD203B41FA5}">
                      <a16:colId xmlns:a16="http://schemas.microsoft.com/office/drawing/2014/main" val="3700035565"/>
                    </a:ext>
                  </a:extLst>
                </a:gridCol>
                <a:gridCol w="4392891">
                  <a:extLst>
                    <a:ext uri="{9D8B030D-6E8A-4147-A177-3AD203B41FA5}">
                      <a16:colId xmlns:a16="http://schemas.microsoft.com/office/drawing/2014/main" val="133797055"/>
                    </a:ext>
                  </a:extLst>
                </a:gridCol>
                <a:gridCol w="5027630">
                  <a:extLst>
                    <a:ext uri="{9D8B030D-6E8A-4147-A177-3AD203B41FA5}">
                      <a16:colId xmlns:a16="http://schemas.microsoft.com/office/drawing/2014/main" val="4250049836"/>
                    </a:ext>
                  </a:extLst>
                </a:gridCol>
              </a:tblGrid>
              <a:tr h="357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Problem type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918" marR="549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What you should inspect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918" marR="549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Expected action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918" marR="54918" marT="0" marB="0"/>
                </a:tc>
                <a:extLst>
                  <a:ext uri="{0D108BD9-81ED-4DB2-BD59-A6C34878D82A}">
                    <a16:rowId xmlns:a16="http://schemas.microsoft.com/office/drawing/2014/main" val="1690028417"/>
                  </a:ext>
                </a:extLst>
              </a:tr>
              <a:tr h="6545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Impossible domain values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Age, premium, income and other numerical ranges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Use a domain rule; convert invalid values to missing or otherwise correct them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extLst>
                  <a:ext uri="{0D108BD9-81ED-4DB2-BD59-A6C34878D82A}">
                    <a16:rowId xmlns:a16="http://schemas.microsoft.com/office/drawing/2014/main" val="2444750842"/>
                  </a:ext>
                </a:extLst>
              </a:tr>
              <a:tr h="6545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Sentinel/special codes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Very unusual values such as negative or extreme codes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Recognise the code and convert it to an appropriate missing value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extLst>
                  <a:ext uri="{0D108BD9-81ED-4DB2-BD59-A6C34878D82A}">
                    <a16:rowId xmlns:a16="http://schemas.microsoft.com/office/drawing/2014/main" val="379105647"/>
                  </a:ext>
                </a:extLst>
              </a:tr>
              <a:tr h="6545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Inconsistent categories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Spelling, case, abbreviations and trailing spaces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Standardise categories using a documented mapping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extLst>
                  <a:ext uri="{0D108BD9-81ED-4DB2-BD59-A6C34878D82A}">
                    <a16:rowId xmlns:a16="http://schemas.microsoft.com/office/drawing/2014/main" val="2201373136"/>
                  </a:ext>
                </a:extLst>
              </a:tr>
              <a:tr h="4712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Duplicate records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Exact repeated customer records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Detect and remove genuine duplicates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extLst>
                  <a:ext uri="{0D108BD9-81ED-4DB2-BD59-A6C34878D82A}">
                    <a16:rowId xmlns:a16="http://schemas.microsoft.com/office/drawing/2014/main" val="890722341"/>
                  </a:ext>
                </a:extLst>
              </a:tr>
              <a:tr h="6508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Identifier fields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Customer identifiers or transaction keys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Exclude identifier fields from predictive modeling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extLst>
                  <a:ext uri="{0D108BD9-81ED-4DB2-BD59-A6C34878D82A}">
                    <a16:rowId xmlns:a16="http://schemas.microsoft.com/office/drawing/2014/main" val="2501301525"/>
                  </a:ext>
                </a:extLst>
              </a:tr>
              <a:tr h="6545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Date validity / feature meaning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Mixed formats, impossible dates and raw dates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Validate dates; derive a useful numeric feature such as policy tenure if appropriate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extLst>
                  <a:ext uri="{0D108BD9-81ED-4DB2-BD59-A6C34878D82A}">
                    <a16:rowId xmlns:a16="http://schemas.microsoft.com/office/drawing/2014/main" val="1042668779"/>
                  </a:ext>
                </a:extLst>
              </a:tr>
              <a:tr h="6545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Target leakage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Variables created after renewal/lapse is already known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Identify and remove leakage variables before training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extLst>
                  <a:ext uri="{0D108BD9-81ED-4DB2-BD59-A6C34878D82A}">
                    <a16:rowId xmlns:a16="http://schemas.microsoft.com/office/drawing/2014/main" val="4288425333"/>
                  </a:ext>
                </a:extLst>
              </a:tr>
              <a:tr h="9415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Business interpretation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Whether an extreme claim/premium is an error or a genuine high-value customer</a:t>
                      </a:r>
                      <a:endParaRPr lang="en-IN" sz="18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Decide which unusual values should remain for </a:t>
                      </a:r>
                      <a:r>
                        <a:rPr lang="en-US" sz="1800" dirty="0" err="1">
                          <a:effectLst/>
                        </a:rPr>
                        <a:t>AutoML</a:t>
                      </a:r>
                      <a:r>
                        <a:rPr lang="en-US" sz="1800" dirty="0">
                          <a:effectLst/>
                        </a:rPr>
                        <a:t> outlier handling</a:t>
                      </a:r>
                      <a:endParaRPr lang="en-IN" sz="18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5765" marR="45765" marT="45765" marB="45765" anchor="ctr"/>
                </a:tc>
                <a:extLst>
                  <a:ext uri="{0D108BD9-81ED-4DB2-BD59-A6C34878D82A}">
                    <a16:rowId xmlns:a16="http://schemas.microsoft.com/office/drawing/2014/main" val="1850625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88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7EAE-CF17-8ED2-5A82-48C7D458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30A8-CF5B-EF32-8E83-3AA1AD9EE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85" y="167164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dirty="0"/>
              <a:t>Step 4 Related : What </a:t>
            </a:r>
            <a:r>
              <a:rPr lang="en-IN" dirty="0" err="1"/>
              <a:t>PyCaret</a:t>
            </a:r>
            <a:r>
              <a:rPr lang="en-IN" dirty="0"/>
              <a:t> Should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96BB1-193B-8C41-4D65-C2AA62868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885" y="933254"/>
            <a:ext cx="11765437" cy="575758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After human cleaning, the </a:t>
            </a:r>
            <a:r>
              <a:rPr lang="en-US" dirty="0" err="1"/>
              <a:t>PyCaret</a:t>
            </a:r>
            <a:r>
              <a:rPr lang="en-US" dirty="0"/>
              <a:t> Job is 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Train/test split and stratification: Let </a:t>
            </a:r>
            <a:r>
              <a:rPr lang="en-US" dirty="0" err="1"/>
              <a:t>PyCaret</a:t>
            </a:r>
            <a:r>
              <a:rPr lang="en-US" dirty="0"/>
              <a:t> create the hold-out split while preserving target proportions.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Numeric missing-value imputation: Use median imputation for ordinary numeric missing values.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Categorical missing-value imputation: Use mode imputation for ordinary missing categories.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Categorical encoding: Allow </a:t>
            </a:r>
            <a:r>
              <a:rPr lang="en-US" dirty="0" err="1"/>
              <a:t>PyCaret</a:t>
            </a:r>
            <a:r>
              <a:rPr lang="en-US" dirty="0"/>
              <a:t> to convert categorical predictors into model-usable numerical representations.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Normalization: Enable z-score normalization so features with different numerical scales can be handled consistently.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Statistical outlier treatment: Enable an automated method such as Isolation Forest, but remember that this is statistical—not semantic—outlier handling.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Class imbalance treatment: Enable </a:t>
            </a:r>
            <a:r>
              <a:rPr lang="en-US" dirty="0" err="1"/>
              <a:t>fix_imbalance</a:t>
            </a:r>
            <a:r>
              <a:rPr lang="en-US" dirty="0"/>
              <a:t> so </a:t>
            </a:r>
            <a:r>
              <a:rPr lang="en-US" dirty="0" err="1"/>
              <a:t>PyCaret</a:t>
            </a:r>
            <a:r>
              <a:rPr lang="en-US" dirty="0"/>
              <a:t> can balance the minority renewal/non-renewal class during training.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Cross-validation: Use multiple folds rather than evaluating a model on one split only.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Model comparison: Let </a:t>
            </a:r>
            <a:r>
              <a:rPr lang="en-US" dirty="0" err="1"/>
              <a:t>compare_models</a:t>
            </a:r>
            <a:r>
              <a:rPr lang="en-US" dirty="0"/>
              <a:t>() train and rank several classification algorithms.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Prediction and evaluation: Use </a:t>
            </a:r>
            <a:r>
              <a:rPr lang="en-US" dirty="0" err="1"/>
              <a:t>PyCaret</a:t>
            </a:r>
            <a:r>
              <a:rPr lang="en-US" dirty="0"/>
              <a:t> to generate predictions and standard model-performance plots/metrics.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9129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C267-AB20-2A19-F285-9629E995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82617-C638-7397-3EC9-15133B34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339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663</Words>
  <Application>Microsoft Office PowerPoint</Application>
  <PresentationFormat>Widescreen</PresentationFormat>
  <Paragraphs>63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AutoML Data Preparation with PyCaret </vt:lpstr>
      <vt:lpstr>Introduction</vt:lpstr>
      <vt:lpstr>Student Task</vt:lpstr>
      <vt:lpstr>Step 2 and Step 3 related(Human intervention)</vt:lpstr>
      <vt:lpstr>Step 4 Related : What PyCaret Should do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P.  Balasubramanyam</dc:creator>
  <cp:lastModifiedBy>Dr. P.  Balasubramanyam</cp:lastModifiedBy>
  <cp:revision>1</cp:revision>
  <dcterms:created xsi:type="dcterms:W3CDTF">2026-08-23T05:42:22Z</dcterms:created>
  <dcterms:modified xsi:type="dcterms:W3CDTF">2026-08-23T10:33:19Z</dcterms:modified>
</cp:coreProperties>
</file>